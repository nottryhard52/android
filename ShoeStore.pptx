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Default Extension="png" ContentType="image/png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939" r:id="rId1"/>
  </p:sldMasterIdLst>
  <p:sldIdLst>
    <p:sldId id="256" r:id="rId2"/>
    <p:sldId id="257" r:id="rId3"/>
    <p:sldId id="282" r:id="rId4"/>
    <p:sldId id="272" r:id="rId5"/>
    <p:sldId id="283" r:id="rId6"/>
    <p:sldId id="275" r:id="rId7"/>
    <p:sldId id="273" r:id="rId8"/>
    <p:sldId id="274" r:id="rId9"/>
    <p:sldId id="276" r:id="rId10"/>
    <p:sldId id="277" r:id="rId11"/>
    <p:sldId id="284" r:id="rId1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 xmlns="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2D419C"/>
    <a:srgbClr val="123BAE"/>
  </p:clrMru>
  <p:extLst>
    <p:ext uri="{E76CE94A-603C-4142-B9EB-6D1370010A27}">
      <p14:discardImageEditData xmlns:p14="http://schemas.microsoft.com/office/powerpoint/2010/main" xmlns="" val="0"/>
    </p:ext>
    <p:ext uri="{D31A062A-798A-4329-ABDD-BBA856620510}">
      <p14:defaultImageDpi xmlns:p14="http://schemas.microsoft.com/office/powerpoint/2010/main" xmlns="" val="220"/>
    </p:ext>
    <p:ext uri="{FD5EFAAD-0ECE-453E-9831-46B23BE46B34}">
      <p15:chartTrackingRefBased xmlns:p15="http://schemas.microsoft.com/office/powerpoint/2012/main" xmlns="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—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Нет стиля, нет сетки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>
      <p:cViewPr>
        <p:scale>
          <a:sx n="100" d="100"/>
          <a:sy n="100" d="100"/>
        </p:scale>
        <p:origin x="-936" y="-426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60EA64-D806-43AC-9DF2-F8C432F32B4C}" type="datetimeFigureOut">
              <a:rPr lang="en-US" smtClean="0"/>
              <a:pPr/>
              <a:t>12/19/2025</a:t>
            </a:fld>
            <a:endParaRPr lang="en-US" dirty="0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xmlns="" val="250975234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70A7B3-6521-4DCA-87E5-044747A908C1}" type="datetimeFigureOut">
              <a:rPr lang="en-US" smtClean="0"/>
              <a:pPr/>
              <a:t>12/19/2025</a:t>
            </a:fld>
            <a:endParaRPr lang="en-US" dirty="0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xmlns="" val="418662297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60EA64-D806-43AC-9DF2-F8C432F32B4C}" type="datetimeFigureOut">
              <a:rPr lang="en-US" smtClean="0"/>
              <a:pPr/>
              <a:t>12/19/2025</a:t>
            </a:fld>
            <a:endParaRPr lang="en-US" dirty="0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xmlns="" val="225589607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134690-1557-4C89-A502-4959FE7FAD70}" type="datetimeFigureOut">
              <a:rPr lang="en-US" smtClean="0"/>
              <a:pPr/>
              <a:t>12/19/2025</a:t>
            </a:fld>
            <a:endParaRPr lang="en-US" dirty="0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xmlns="" val="399975098"/>
      </p:ext>
    </p:extLst>
  </p:cSld>
  <p:clrMapOvr>
    <a:masterClrMapping/>
  </p:clrMapOvr>
  <p:extLst>
    <p:ext uri="{DCECCB84-F9BA-43D5-87BE-67443E8EF086}">
      <p15:sldGuideLst xmlns:p15="http://schemas.microsoft.com/office/powerpoint/2012/main" xmlns=""/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Текст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" name="Дата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7D4976-E339-4826-83B7-FBD03F55ECF8}" type="datetimeFigureOut">
              <a:rPr lang="en-US" smtClean="0"/>
              <a:pPr/>
              <a:t>12/19/2025</a:t>
            </a:fld>
            <a:endParaRPr lang="en-US" dirty="0"/>
          </a:p>
        </p:txBody>
      </p:sp>
      <p:sp>
        <p:nvSpPr>
          <p:cNvPr id="8" name="Нижний колонтитул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Номер слайда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xmlns="" val="3691994714"/>
      </p:ext>
    </p:extLst>
  </p:cSld>
  <p:clrMapOvr>
    <a:masterClrMapping/>
  </p:clrMapOvr>
  <p:extLst>
    <p:ext uri="{DCECCB84-F9BA-43D5-87BE-67443E8EF086}">
      <p15:sldGuideLst xmlns:p15="http://schemas.microsoft.com/office/powerpoint/2012/main" xmlns=""/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Дата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037C31-9E7A-4F99-8774-A0E530DE1A42}" type="datetimeFigureOut">
              <a:rPr lang="en-US" smtClean="0"/>
              <a:pPr/>
              <a:t>12/19/2025</a:t>
            </a:fld>
            <a:endParaRPr lang="en-US" dirty="0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xmlns="" val="40974277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78504F-A551-4DE0-9316-4DCD1D8CC752}" type="datetimeFigureOut">
              <a:rPr lang="en-US" smtClean="0"/>
              <a:pPr/>
              <a:t>12/19/2025</a:t>
            </a:fld>
            <a:endParaRPr lang="en-US" dirty="0"/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xmlns="" val="54094478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60EA64-D806-43AC-9DF2-F8C432F32B4C}" type="datetimeFigureOut">
              <a:rPr lang="en-US" smtClean="0"/>
              <a:pPr/>
              <a:t>12/19/2025</a:t>
            </a:fld>
            <a:endParaRPr lang="en-US" dirty="0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xmlns="" val="1015439884"/>
      </p:ext>
    </p:extLst>
  </p:cSld>
  <p:clrMapOvr>
    <a:masterClrMapping/>
  </p:clrMapOvr>
  <p:extLst>
    <p:ext uri="{DCECCB84-F9BA-43D5-87BE-67443E8EF086}">
      <p15:sldGuideLst xmlns:p15="http://schemas.microsoft.com/office/powerpoint/2012/main" xmlns=""/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60EA64-D806-43AC-9DF2-F8C432F32B4C}" type="datetimeFigureOut">
              <a:rPr lang="en-US" smtClean="0"/>
              <a:pPr/>
              <a:t>12/19/2025</a:t>
            </a:fld>
            <a:endParaRPr lang="en-US" dirty="0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xmlns="" val="134915245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F9C37B-1D36-470B-8223-D6C91242EC14}" type="datetimeFigureOut">
              <a:rPr lang="en-US" smtClean="0"/>
              <a:pPr/>
              <a:t>12/19/2025</a:t>
            </a:fld>
            <a:endParaRPr lang="en-US" dirty="0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xmlns="" val="138797791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C6F52A-A82B-47A2-A83A-8C4C91F2D59F}" type="datetimeFigureOut">
              <a:rPr lang="en-US" smtClean="0"/>
              <a:pPr/>
              <a:t>12/19/2025</a:t>
            </a:fld>
            <a:endParaRPr lang="en-US" dirty="0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xmlns="" val="57033327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160EA64-D806-43AC-9DF2-F8C432F32B4C}" type="datetimeFigureOut">
              <a:rPr lang="en-US" smtClean="0"/>
              <a:pPr/>
              <a:t>12/19/2025</a:t>
            </a:fld>
            <a:endParaRPr lang="en-US" dirty="0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A7A6979-0714-4377-B894-6BE4C2D6E202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xmlns="" val="110585182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940" r:id="rId1"/>
    <p:sldLayoutId id="2147483941" r:id="rId2"/>
    <p:sldLayoutId id="2147483942" r:id="rId3"/>
    <p:sldLayoutId id="2147483943" r:id="rId4"/>
    <p:sldLayoutId id="2147483944" r:id="rId5"/>
    <p:sldLayoutId id="2147483945" r:id="rId6"/>
    <p:sldLayoutId id="2147483946" r:id="rId7"/>
    <p:sldLayoutId id="2147483947" r:id="rId8"/>
    <p:sldLayoutId id="2147483948" r:id="rId9"/>
    <p:sldLayoutId id="2147483949" r:id="rId10"/>
    <p:sldLayoutId id="2147483950" r:id="rId11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 xmlns=""/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2.png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0" y="2750664"/>
            <a:ext cx="12192000" cy="1356671"/>
          </a:xfrm>
          <a:solidFill>
            <a:srgbClr val="2D419C"/>
          </a:solidFill>
        </p:spPr>
        <p:txBody>
          <a:bodyPr anchor="ctr">
            <a:normAutofit/>
          </a:bodyPr>
          <a:lstStyle/>
          <a:p>
            <a:r>
              <a:rPr lang="en-US" b="1" dirty="0" smtClean="0">
                <a:solidFill>
                  <a:schemeClr val="bg1"/>
                </a:solidFill>
              </a:rPr>
              <a:t>Shoe S</a:t>
            </a:r>
            <a:r>
              <a:rPr lang="en-US" b="1" dirty="0" smtClean="0">
                <a:solidFill>
                  <a:schemeClr val="bg1"/>
                </a:solidFill>
              </a:rPr>
              <a:t>tore</a:t>
            </a:r>
            <a:endParaRPr lang="ru-RU" b="1" dirty="0">
              <a:solidFill>
                <a:schemeClr val="bg1"/>
              </a:solidFill>
            </a:endParaRPr>
          </a:p>
        </p:txBody>
      </p:sp>
      <p:sp>
        <p:nvSpPr>
          <p:cNvPr id="4" name="Подзаголовок 3"/>
          <p:cNvSpPr>
            <a:spLocks noGrp="1"/>
          </p:cNvSpPr>
          <p:nvPr>
            <p:ph type="subTitle" idx="1"/>
          </p:nvPr>
        </p:nvSpPr>
        <p:spPr>
          <a:xfrm>
            <a:off x="1543050" y="3659188"/>
            <a:ext cx="9144000" cy="1655762"/>
          </a:xfrm>
        </p:spPr>
        <p:txBody>
          <a:bodyPr/>
          <a:lstStyle/>
          <a:p>
            <a:r>
              <a:rPr lang="en-US" dirty="0" smtClean="0">
                <a:solidFill>
                  <a:schemeClr val="bg1"/>
                </a:solidFill>
              </a:rPr>
              <a:t>Android | MVVM | Jetpack Compose | </a:t>
            </a:r>
            <a:r>
              <a:rPr lang="en-US" dirty="0" err="1" smtClean="0">
                <a:solidFill>
                  <a:schemeClr val="bg1"/>
                </a:solidFill>
              </a:rPr>
              <a:t>Supabase</a:t>
            </a:r>
            <a:endParaRPr lang="ru-RU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xmlns="" val="429053413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0" y="450850"/>
            <a:ext cx="12192000" cy="758825"/>
          </a:xfrm>
          <a:solidFill>
            <a:srgbClr val="2D419C"/>
          </a:solidFill>
        </p:spPr>
        <p:txBody>
          <a:bodyPr>
            <a:normAutofit/>
          </a:bodyPr>
          <a:lstStyle/>
          <a:p>
            <a:pPr algn="ctr"/>
            <a:r>
              <a:rPr lang="ru-RU" sz="4000" b="1" dirty="0" smtClean="0">
                <a:solidFill>
                  <a:schemeClr val="bg1"/>
                </a:solidFill>
              </a:rPr>
              <a:t>Обзор проекта</a:t>
            </a:r>
            <a:endParaRPr lang="ru-RU" sz="4000" b="1" dirty="0">
              <a:solidFill>
                <a:schemeClr val="bg1"/>
              </a:solidFill>
            </a:endParaRP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323851" y="1422400"/>
            <a:ext cx="11515724" cy="4013200"/>
          </a:xfrm>
        </p:spPr>
        <p:txBody>
          <a:bodyPr>
            <a:normAutofit/>
          </a:bodyPr>
          <a:lstStyle/>
          <a:p>
            <a:pPr algn="just">
              <a:buNone/>
            </a:pP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lang="ru-RU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lang="ru-RU" sz="2400" b="1" dirty="0" err="1" smtClean="0"/>
              <a:t>ShoeStore</a:t>
            </a:r>
            <a:r>
              <a:rPr lang="ru-RU" sz="2400" dirty="0" smtClean="0"/>
              <a:t> </a:t>
            </a:r>
            <a:r>
              <a:rPr lang="ru-RU" sz="2400" dirty="0" smtClean="0"/>
              <a:t>— Android-приложение </a:t>
            </a:r>
            <a:r>
              <a:rPr lang="ru-RU" sz="2400" dirty="0" err="1" smtClean="0"/>
              <a:t>маркетплейса</a:t>
            </a:r>
            <a:r>
              <a:rPr lang="ru-RU" sz="2400" dirty="0" smtClean="0"/>
              <a:t> спортивной обуви.</a:t>
            </a:r>
            <a:br>
              <a:rPr lang="ru-RU" sz="2400" dirty="0" smtClean="0"/>
            </a:br>
            <a:r>
              <a:rPr lang="ru-RU" sz="2400" dirty="0" smtClean="0"/>
              <a:t>Приложение реализовано с использованием современного Android-стека и ориентировано на работу с REST API, декларативным UI и архитектурным разделением слоёв.</a:t>
            </a:r>
          </a:p>
          <a:p>
            <a:pPr algn="just">
              <a:buNone/>
            </a:pPr>
            <a:r>
              <a:rPr lang="ru-RU" sz="2400" dirty="0" smtClean="0"/>
              <a:t>		Основной </a:t>
            </a:r>
            <a:r>
              <a:rPr lang="ru-RU" sz="2400" dirty="0" smtClean="0"/>
              <a:t>фокус реализации — корректная организация кода, управление состоянием UI и взаимодействие с серверной частью.</a:t>
            </a:r>
          </a:p>
          <a:p>
            <a:pPr algn="just">
              <a:buNone/>
            </a:pPr>
            <a:endParaRPr 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4338" name="Picture 2" descr="Файл:Android logo 2019.png — Википедия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3384551" y="3857624"/>
            <a:ext cx="2559547" cy="2562225"/>
          </a:xfrm>
          <a:prstGeom prst="rect">
            <a:avLst/>
          </a:prstGeom>
          <a:noFill/>
        </p:spPr>
      </p:pic>
      <p:pic>
        <p:nvPicPr>
          <p:cNvPr id="14340" name="Picture 4" descr="Rest API Icon SVG Vector &amp; PNG Free Download | UXWing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6242050" y="4164012"/>
            <a:ext cx="2362200" cy="1933576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xmlns="" val="395011189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0" y="450850"/>
            <a:ext cx="12192000" cy="758825"/>
          </a:xfrm>
          <a:solidFill>
            <a:srgbClr val="2D419C"/>
          </a:solidFill>
        </p:spPr>
        <p:txBody>
          <a:bodyPr>
            <a:normAutofit/>
          </a:bodyPr>
          <a:lstStyle/>
          <a:p>
            <a:pPr algn="ctr"/>
            <a:r>
              <a:rPr lang="ru-RU" sz="4000" b="1" dirty="0" smtClean="0">
                <a:solidFill>
                  <a:schemeClr val="bg1"/>
                </a:solidFill>
              </a:rPr>
              <a:t>Функциональная структура приложения</a:t>
            </a:r>
            <a:endParaRPr lang="ru-RU" sz="4000" b="1" dirty="0">
              <a:solidFill>
                <a:schemeClr val="bg1"/>
              </a:solidFill>
            </a:endParaRP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323851" y="1422400"/>
            <a:ext cx="11515724" cy="4013200"/>
          </a:xfrm>
        </p:spPr>
        <p:txBody>
          <a:bodyPr>
            <a:normAutofit/>
          </a:bodyPr>
          <a:lstStyle/>
          <a:p>
            <a:pPr algn="just">
              <a:buNone/>
            </a:pP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		</a:t>
            </a:r>
            <a:endParaRPr lang="ru-RU" sz="2600" dirty="0"/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738188" y="1209675"/>
            <a:ext cx="3400425" cy="5334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</p:pic>
      <p:pic>
        <p:nvPicPr>
          <p:cNvPr id="2051" name="Picture 3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4391025" y="1814513"/>
            <a:ext cx="3505200" cy="4333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</p:pic>
      <p:pic>
        <p:nvPicPr>
          <p:cNvPr id="2052" name="Picture 4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8172450" y="2300288"/>
            <a:ext cx="3448050" cy="32289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xmlns="" val="175832243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0" y="450850"/>
            <a:ext cx="12192000" cy="758825"/>
          </a:xfrm>
          <a:solidFill>
            <a:srgbClr val="2D419C"/>
          </a:solidFill>
        </p:spPr>
        <p:txBody>
          <a:bodyPr>
            <a:normAutofit/>
          </a:bodyPr>
          <a:lstStyle/>
          <a:p>
            <a:pPr algn="ctr"/>
            <a:r>
              <a:rPr lang="ru-RU" sz="4000" b="1" dirty="0" smtClean="0">
                <a:solidFill>
                  <a:schemeClr val="bg1"/>
                </a:solidFill>
              </a:rPr>
              <a:t>Функциональная структура приложения</a:t>
            </a:r>
            <a:endParaRPr lang="ru-RU" sz="4000" b="1" dirty="0">
              <a:solidFill>
                <a:schemeClr val="bg1"/>
              </a:solidFill>
            </a:endParaRP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323851" y="1422400"/>
            <a:ext cx="11515724" cy="4013200"/>
          </a:xfrm>
        </p:spPr>
        <p:txBody>
          <a:bodyPr>
            <a:normAutofit/>
          </a:bodyPr>
          <a:lstStyle/>
          <a:p>
            <a:pPr algn="just">
              <a:buNone/>
            </a:pP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		</a:t>
            </a:r>
            <a:endParaRPr lang="ru-RU" sz="2600" dirty="0"/>
          </a:p>
        </p:txBody>
      </p:sp>
      <p:pic>
        <p:nvPicPr>
          <p:cNvPr id="4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942975" y="1361659"/>
            <a:ext cx="3076575" cy="520269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</p:pic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5053013" y="1422709"/>
            <a:ext cx="2469896" cy="514954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</p:pic>
      <p:pic>
        <p:nvPicPr>
          <p:cNvPr id="1028" name="Picture 4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8534400" y="1362075"/>
            <a:ext cx="2646122" cy="51911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xmlns="" val="175832243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0" y="450850"/>
            <a:ext cx="12192000" cy="758825"/>
          </a:xfrm>
          <a:solidFill>
            <a:srgbClr val="2D419C"/>
          </a:solidFill>
        </p:spPr>
        <p:txBody>
          <a:bodyPr>
            <a:normAutofit/>
          </a:bodyPr>
          <a:lstStyle/>
          <a:p>
            <a:pPr algn="ctr"/>
            <a:r>
              <a:rPr lang="ru-RU" sz="4000" b="1" dirty="0" smtClean="0">
                <a:solidFill>
                  <a:schemeClr val="bg1"/>
                </a:solidFill>
              </a:rPr>
              <a:t>Функциональная структура приложения</a:t>
            </a:r>
            <a:endParaRPr lang="ru-RU" sz="4000" b="1" dirty="0">
              <a:solidFill>
                <a:schemeClr val="bg1"/>
              </a:solidFill>
            </a:endParaRP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323851" y="1422400"/>
            <a:ext cx="11515724" cy="4013200"/>
          </a:xfrm>
        </p:spPr>
        <p:txBody>
          <a:bodyPr>
            <a:normAutofit/>
          </a:bodyPr>
          <a:lstStyle/>
          <a:p>
            <a:pPr algn="just">
              <a:buNone/>
            </a:pP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		</a:t>
            </a:r>
            <a:endParaRPr lang="ru-RU" sz="2600" dirty="0"/>
          </a:p>
        </p:txBody>
      </p:sp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919164" y="1257300"/>
            <a:ext cx="3094206" cy="52149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</p:pic>
      <p:pic>
        <p:nvPicPr>
          <p:cNvPr id="3075" name="Picture 3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4624389" y="1253319"/>
            <a:ext cx="3013128" cy="524273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</p:pic>
      <p:pic>
        <p:nvPicPr>
          <p:cNvPr id="3076" name="Picture 4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8239126" y="1263180"/>
            <a:ext cx="3143250" cy="52519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xmlns="" val="175832243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0" y="450850"/>
            <a:ext cx="12192000" cy="758825"/>
          </a:xfrm>
          <a:solidFill>
            <a:srgbClr val="2D419C"/>
          </a:solidFill>
        </p:spPr>
        <p:txBody>
          <a:bodyPr>
            <a:normAutofit/>
          </a:bodyPr>
          <a:lstStyle/>
          <a:p>
            <a:pPr algn="ctr"/>
            <a:r>
              <a:rPr lang="ru-RU" sz="4000" b="1" dirty="0" smtClean="0">
                <a:solidFill>
                  <a:schemeClr val="bg1"/>
                </a:solidFill>
              </a:rPr>
              <a:t>Архитектурный подход</a:t>
            </a:r>
            <a:endParaRPr lang="ru-RU" sz="4000" b="1" dirty="0">
              <a:solidFill>
                <a:schemeClr val="bg1"/>
              </a:solidFill>
            </a:endParaRP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323851" y="1422400"/>
            <a:ext cx="11515724" cy="4216400"/>
          </a:xfrm>
        </p:spPr>
        <p:txBody>
          <a:bodyPr>
            <a:normAutofit/>
          </a:bodyPr>
          <a:lstStyle/>
          <a:p>
            <a:pPr algn="just">
              <a:buNone/>
            </a:pPr>
            <a:r>
              <a:rPr lang="en-US" sz="2600" dirty="0" smtClean="0"/>
              <a:t>		</a:t>
            </a:r>
            <a:r>
              <a:rPr lang="ru-RU" sz="2400" dirty="0" smtClean="0"/>
              <a:t>В </a:t>
            </a:r>
            <a:r>
              <a:rPr lang="ru-RU" sz="2400" dirty="0" smtClean="0"/>
              <a:t>приложении используется архитектурный паттерн </a:t>
            </a:r>
            <a:r>
              <a:rPr lang="ru-RU" sz="2400" b="1" dirty="0" smtClean="0"/>
              <a:t>MVVM (</a:t>
            </a:r>
            <a:r>
              <a:rPr lang="ru-RU" sz="2400" b="1" dirty="0" err="1" smtClean="0"/>
              <a:t>Model</a:t>
            </a:r>
            <a:r>
              <a:rPr lang="ru-RU" sz="2400" b="1" dirty="0" smtClean="0"/>
              <a:t>–</a:t>
            </a:r>
            <a:r>
              <a:rPr lang="ru-RU" sz="2400" b="1" dirty="0" err="1" smtClean="0"/>
              <a:t>View</a:t>
            </a:r>
            <a:r>
              <a:rPr lang="ru-RU" sz="2400" b="1" dirty="0" smtClean="0"/>
              <a:t>–</a:t>
            </a:r>
            <a:r>
              <a:rPr lang="ru-RU" sz="2400" b="1" dirty="0" err="1" smtClean="0"/>
              <a:t>ViewModel</a:t>
            </a:r>
            <a:r>
              <a:rPr lang="ru-RU" sz="2400" b="1" dirty="0" smtClean="0"/>
              <a:t>)</a:t>
            </a:r>
            <a:r>
              <a:rPr lang="ru-RU" sz="2400" dirty="0" smtClean="0"/>
              <a:t>.</a:t>
            </a:r>
            <a:r>
              <a:rPr lang="en-US" sz="2400" dirty="0" smtClean="0"/>
              <a:t> </a:t>
            </a:r>
            <a:r>
              <a:rPr lang="ru-RU" sz="2400" dirty="0" smtClean="0"/>
              <a:t>Выбор </a:t>
            </a:r>
            <a:r>
              <a:rPr lang="ru-RU" sz="2400" dirty="0" smtClean="0"/>
              <a:t>MVVM обусловлен его совместимостью с </a:t>
            </a:r>
            <a:r>
              <a:rPr lang="ru-RU" sz="2400" dirty="0" err="1" smtClean="0"/>
              <a:t>Jetpack</a:t>
            </a:r>
            <a:r>
              <a:rPr lang="ru-RU" sz="2400" dirty="0" smtClean="0"/>
              <a:t> </a:t>
            </a:r>
            <a:r>
              <a:rPr lang="ru-RU" sz="2400" dirty="0" err="1" smtClean="0"/>
              <a:t>Compose</a:t>
            </a:r>
            <a:r>
              <a:rPr lang="ru-RU" sz="2400" dirty="0" smtClean="0"/>
              <a:t> и рекомендациями </a:t>
            </a:r>
            <a:r>
              <a:rPr lang="ru-RU" sz="2400" dirty="0" err="1" smtClean="0"/>
              <a:t>Android</a:t>
            </a:r>
            <a:r>
              <a:rPr lang="ru-RU" sz="2400" dirty="0" smtClean="0"/>
              <a:t> </a:t>
            </a:r>
            <a:r>
              <a:rPr lang="ru-RU" sz="2400" dirty="0" err="1" smtClean="0"/>
              <a:t>Jetpack</a:t>
            </a:r>
            <a:r>
              <a:rPr lang="ru-RU" sz="2400" dirty="0" smtClean="0"/>
              <a:t>.</a:t>
            </a:r>
          </a:p>
          <a:p>
            <a:pPr algn="just">
              <a:buNone/>
            </a:pPr>
            <a:r>
              <a:rPr lang="en-US" sz="2400" dirty="0" smtClean="0"/>
              <a:t>	</a:t>
            </a:r>
            <a:r>
              <a:rPr lang="ru-RU" sz="2400" dirty="0" smtClean="0"/>
              <a:t>Архитектура </a:t>
            </a:r>
            <a:r>
              <a:rPr lang="ru-RU" sz="2400" dirty="0" smtClean="0"/>
              <a:t>позволяет:</a:t>
            </a:r>
          </a:p>
          <a:p>
            <a:pPr algn="just"/>
            <a:r>
              <a:rPr lang="ru-RU" sz="2400" dirty="0" smtClean="0"/>
              <a:t>изолировать UI от </a:t>
            </a:r>
            <a:r>
              <a:rPr lang="ru-RU" sz="2400" dirty="0" err="1" smtClean="0"/>
              <a:t>бизнес-логики</a:t>
            </a:r>
            <a:r>
              <a:rPr lang="ru-RU" sz="2400" dirty="0" smtClean="0"/>
              <a:t>,</a:t>
            </a:r>
          </a:p>
          <a:p>
            <a:pPr algn="just"/>
            <a:r>
              <a:rPr lang="ru-RU" sz="2400" dirty="0" smtClean="0"/>
              <a:t>централизовать управление состоянием,</a:t>
            </a:r>
          </a:p>
          <a:p>
            <a:pPr algn="just"/>
            <a:r>
              <a:rPr lang="ru-RU" sz="2400" dirty="0" smtClean="0"/>
              <a:t>упростить сопровождение и расширение приложения.</a:t>
            </a:r>
          </a:p>
          <a:p>
            <a:pPr algn="just">
              <a:buNone/>
            </a:pPr>
            <a:r>
              <a:rPr lang="en-US" sz="2400" dirty="0" smtClean="0"/>
              <a:t>		</a:t>
            </a:r>
            <a:r>
              <a:rPr lang="ru-RU" sz="2400" dirty="0" smtClean="0"/>
              <a:t>Каждый </a:t>
            </a:r>
            <a:r>
              <a:rPr lang="ru-RU" sz="2400" dirty="0" smtClean="0"/>
              <a:t>экран имеет собственную </a:t>
            </a:r>
            <a:r>
              <a:rPr lang="ru-RU" sz="2400" dirty="0" err="1" smtClean="0"/>
              <a:t>ViewModel</a:t>
            </a:r>
            <a:r>
              <a:rPr lang="ru-RU" sz="2400" dirty="0" smtClean="0"/>
              <a:t>, что уменьшает связанность компонентов.</a:t>
            </a:r>
          </a:p>
          <a:p>
            <a:pPr marL="0" indent="0" algn="just">
              <a:buNone/>
            </a:pPr>
            <a:endParaRPr lang="ru-RU" sz="1600" dirty="0"/>
          </a:p>
        </p:txBody>
      </p:sp>
    </p:spTree>
    <p:extLst>
      <p:ext uri="{BB962C8B-B14F-4D97-AF65-F5344CB8AC3E}">
        <p14:creationId xmlns:p14="http://schemas.microsoft.com/office/powerpoint/2010/main" xmlns="" val="406036887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0" y="450850"/>
            <a:ext cx="12192000" cy="758825"/>
          </a:xfrm>
          <a:solidFill>
            <a:srgbClr val="2D419C"/>
          </a:solidFill>
        </p:spPr>
        <p:txBody>
          <a:bodyPr>
            <a:normAutofit/>
          </a:bodyPr>
          <a:lstStyle/>
          <a:p>
            <a:pPr algn="ctr"/>
            <a:r>
              <a:rPr lang="ru-RU" sz="4000" b="1" dirty="0" smtClean="0">
                <a:solidFill>
                  <a:schemeClr val="bg1"/>
                </a:solidFill>
              </a:rPr>
              <a:t>Реализация </a:t>
            </a:r>
            <a:r>
              <a:rPr lang="en-US" sz="4000" b="1" dirty="0" smtClean="0">
                <a:solidFill>
                  <a:schemeClr val="bg1"/>
                </a:solidFill>
              </a:rPr>
              <a:t>MVVM</a:t>
            </a:r>
            <a:endParaRPr lang="ru-RU" sz="4000" b="1" dirty="0">
              <a:solidFill>
                <a:schemeClr val="bg1"/>
              </a:solidFill>
            </a:endParaRP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323851" y="1422400"/>
            <a:ext cx="11515724" cy="4013200"/>
          </a:xfrm>
        </p:spPr>
        <p:txBody>
          <a:bodyPr>
            <a:normAutofit/>
          </a:bodyPr>
          <a:lstStyle/>
          <a:p>
            <a:pPr algn="just">
              <a:buNone/>
            </a:pP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		</a:t>
            </a:r>
            <a:r>
              <a:rPr lang="ru-RU" sz="2400" dirty="0" smtClean="0"/>
              <a:t>Compose-экраны </a:t>
            </a:r>
            <a:r>
              <a:rPr lang="ru-RU" sz="2400" dirty="0" smtClean="0"/>
              <a:t>выполняют роль </a:t>
            </a:r>
            <a:r>
              <a:rPr lang="ru-RU" sz="2400" dirty="0" err="1" smtClean="0"/>
              <a:t>View</a:t>
            </a:r>
            <a:r>
              <a:rPr lang="ru-RU" sz="2400" dirty="0" smtClean="0"/>
              <a:t> и не содержат </a:t>
            </a:r>
            <a:r>
              <a:rPr lang="ru-RU" sz="2400" dirty="0" err="1" smtClean="0"/>
              <a:t>бизнес-логики</a:t>
            </a:r>
            <a:r>
              <a:rPr lang="ru-RU" sz="2400" dirty="0" smtClean="0"/>
              <a:t>. Они подписываются на состояние </a:t>
            </a:r>
            <a:r>
              <a:rPr lang="ru-RU" sz="2400" dirty="0" err="1" smtClean="0"/>
              <a:t>ViewModel</a:t>
            </a:r>
            <a:r>
              <a:rPr lang="ru-RU" sz="2400" dirty="0" smtClean="0"/>
              <a:t> и автоматически обновляются при его изменении.</a:t>
            </a:r>
          </a:p>
          <a:p>
            <a:pPr algn="just">
              <a:buNone/>
            </a:pPr>
            <a:r>
              <a:rPr lang="en-US" sz="2400" dirty="0" smtClean="0"/>
              <a:t>	</a:t>
            </a:r>
            <a:r>
              <a:rPr lang="ru-RU" sz="2400" dirty="0" err="1" smtClean="0"/>
              <a:t>ViewModel</a:t>
            </a:r>
            <a:r>
              <a:rPr lang="ru-RU" sz="2400" dirty="0" smtClean="0"/>
              <a:t> </a:t>
            </a:r>
            <a:r>
              <a:rPr lang="ru-RU" sz="2400" dirty="0" smtClean="0"/>
              <a:t>отвечает за:</a:t>
            </a:r>
          </a:p>
          <a:p>
            <a:pPr algn="just"/>
            <a:r>
              <a:rPr lang="ru-RU" sz="2400" dirty="0" smtClean="0"/>
              <a:t>обработку пользовательских действий,</a:t>
            </a:r>
          </a:p>
          <a:p>
            <a:pPr algn="just"/>
            <a:r>
              <a:rPr lang="ru-RU" sz="2400" dirty="0" smtClean="0"/>
              <a:t>формирование UI-состояния,</a:t>
            </a:r>
          </a:p>
          <a:p>
            <a:pPr algn="just"/>
            <a:r>
              <a:rPr lang="ru-RU" sz="2400" dirty="0" smtClean="0"/>
              <a:t>вызовы </a:t>
            </a:r>
            <a:r>
              <a:rPr lang="ru-RU" sz="2400" dirty="0" err="1" smtClean="0"/>
              <a:t>репозиториев</a:t>
            </a:r>
            <a:r>
              <a:rPr lang="ru-RU" sz="2400" dirty="0" smtClean="0"/>
              <a:t>.</a:t>
            </a:r>
          </a:p>
          <a:p>
            <a:pPr algn="just">
              <a:buNone/>
            </a:pPr>
            <a:r>
              <a:rPr lang="en-US" sz="2400" dirty="0" smtClean="0"/>
              <a:t>		</a:t>
            </a:r>
            <a:r>
              <a:rPr lang="ru-RU" sz="2400" dirty="0" smtClean="0"/>
              <a:t>Repository-слой </a:t>
            </a:r>
            <a:r>
              <a:rPr lang="ru-RU" sz="2400" dirty="0" smtClean="0"/>
              <a:t>инкапсулирует работу с сетью и предоставляет </a:t>
            </a:r>
            <a:r>
              <a:rPr lang="ru-RU" sz="2400" dirty="0" err="1" smtClean="0"/>
              <a:t>ViewModel</a:t>
            </a:r>
            <a:r>
              <a:rPr lang="ru-RU" sz="2400" dirty="0" smtClean="0"/>
              <a:t> готовые данные, не раскрывая деталей их получения.</a:t>
            </a:r>
            <a:endParaRPr lang="ru-RU" sz="2400" dirty="0"/>
          </a:p>
        </p:txBody>
      </p:sp>
    </p:spTree>
    <p:extLst>
      <p:ext uri="{BB962C8B-B14F-4D97-AF65-F5344CB8AC3E}">
        <p14:creationId xmlns:p14="http://schemas.microsoft.com/office/powerpoint/2010/main" xmlns="" val="144349253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0" y="450850"/>
            <a:ext cx="12192000" cy="758825"/>
          </a:xfrm>
          <a:solidFill>
            <a:srgbClr val="2D419C"/>
          </a:solidFill>
        </p:spPr>
        <p:txBody>
          <a:bodyPr>
            <a:normAutofit/>
          </a:bodyPr>
          <a:lstStyle/>
          <a:p>
            <a:pPr algn="ctr"/>
            <a:r>
              <a:rPr lang="ru-RU" sz="4000" b="1" dirty="0" smtClean="0">
                <a:solidFill>
                  <a:schemeClr val="bg1"/>
                </a:solidFill>
              </a:rPr>
              <a:t>Диаграмма вариантов использования</a:t>
            </a:r>
            <a:endParaRPr lang="ru-RU" sz="4000" b="1" dirty="0">
              <a:solidFill>
                <a:schemeClr val="bg1"/>
              </a:solidFill>
            </a:endParaRPr>
          </a:p>
        </p:txBody>
      </p:sp>
      <p:pic>
        <p:nvPicPr>
          <p:cNvPr id="6" name="Содержимое 5" descr="Диаграмма вариантов использования.drawio.png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262437" y="1548606"/>
            <a:ext cx="3633788" cy="4909322"/>
          </a:xfrm>
        </p:spPr>
      </p:pic>
    </p:spTree>
    <p:extLst>
      <p:ext uri="{BB962C8B-B14F-4D97-AF65-F5344CB8AC3E}">
        <p14:creationId xmlns:p14="http://schemas.microsoft.com/office/powerpoint/2010/main" xmlns="" val="210575653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Рисунок 9" descr="0_AkAssP7dx1W_mxa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61171" y="3895725"/>
            <a:ext cx="4954224" cy="3305175"/>
          </a:xfrm>
          <a:prstGeom prst="rect">
            <a:avLst/>
          </a:prstGeom>
        </p:spPr>
      </p:pic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0" y="450850"/>
            <a:ext cx="12192000" cy="758825"/>
          </a:xfrm>
          <a:solidFill>
            <a:srgbClr val="2D419C"/>
          </a:solidFill>
        </p:spPr>
        <p:txBody>
          <a:bodyPr>
            <a:normAutofit/>
          </a:bodyPr>
          <a:lstStyle/>
          <a:p>
            <a:pPr algn="ctr"/>
            <a:r>
              <a:rPr lang="ru-RU" sz="4000" b="1" dirty="0" smtClean="0">
                <a:solidFill>
                  <a:schemeClr val="bg1"/>
                </a:solidFill>
              </a:rPr>
              <a:t>Реализация</a:t>
            </a:r>
            <a:r>
              <a:rPr lang="ru-RU" sz="4000" dirty="0" smtClean="0"/>
              <a:t> </a:t>
            </a:r>
            <a:r>
              <a:rPr lang="ru-RU" sz="4000" b="1" dirty="0" smtClean="0">
                <a:solidFill>
                  <a:schemeClr val="bg1"/>
                </a:solidFill>
              </a:rPr>
              <a:t>пользовательского интерфейса</a:t>
            </a:r>
            <a:endParaRPr lang="ru-RU" sz="4000" b="1" dirty="0">
              <a:solidFill>
                <a:schemeClr val="bg1"/>
              </a:solidFill>
            </a:endParaRP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323851" y="1422400"/>
            <a:ext cx="11515724" cy="4013200"/>
          </a:xfrm>
        </p:spPr>
        <p:txBody>
          <a:bodyPr>
            <a:normAutofit/>
          </a:bodyPr>
          <a:lstStyle/>
          <a:p>
            <a:pPr algn="just">
              <a:buNone/>
            </a:pPr>
            <a:r>
              <a:rPr lang="en-US" sz="2400" dirty="0" smtClean="0"/>
              <a:t>		</a:t>
            </a:r>
            <a:r>
              <a:rPr lang="ru-RU" sz="2400" dirty="0" smtClean="0"/>
              <a:t>UI </a:t>
            </a:r>
            <a:r>
              <a:rPr lang="ru-RU" sz="2400" dirty="0" smtClean="0"/>
              <a:t>реализован полностью на </a:t>
            </a:r>
            <a:r>
              <a:rPr lang="ru-RU" sz="2400" b="1" dirty="0" err="1" smtClean="0"/>
              <a:t>Jetpack</a:t>
            </a:r>
            <a:r>
              <a:rPr lang="ru-RU" sz="2400" b="1" dirty="0" smtClean="0"/>
              <a:t> </a:t>
            </a:r>
            <a:r>
              <a:rPr lang="ru-RU" sz="2400" b="1" dirty="0" err="1" smtClean="0"/>
              <a:t>Compose</a:t>
            </a:r>
            <a:r>
              <a:rPr lang="ru-RU" sz="2400" dirty="0" smtClean="0"/>
              <a:t>.</a:t>
            </a:r>
            <a:br>
              <a:rPr lang="ru-RU" sz="2400" dirty="0" smtClean="0"/>
            </a:br>
            <a:r>
              <a:rPr lang="ru-RU" sz="2400" dirty="0" smtClean="0"/>
              <a:t>Интерфейс строится декларативно и зависит от состояния, передаваемого из </a:t>
            </a:r>
            <a:r>
              <a:rPr lang="ru-RU" sz="2400" dirty="0" err="1" smtClean="0"/>
              <a:t>ViewModel</a:t>
            </a:r>
            <a:r>
              <a:rPr lang="ru-RU" sz="2400" dirty="0" smtClean="0"/>
              <a:t>.</a:t>
            </a:r>
          </a:p>
          <a:p>
            <a:pPr algn="just">
              <a:buNone/>
            </a:pPr>
            <a:r>
              <a:rPr lang="en-US" sz="2400" dirty="0" smtClean="0"/>
              <a:t>		</a:t>
            </a:r>
            <a:r>
              <a:rPr lang="ru-RU" sz="2400" dirty="0" smtClean="0"/>
              <a:t>Для </a:t>
            </a:r>
            <a:r>
              <a:rPr lang="ru-RU" sz="2400" dirty="0" smtClean="0"/>
              <a:t>отображения коллекций данных используются </a:t>
            </a:r>
            <a:r>
              <a:rPr lang="ru-RU" sz="2400" dirty="0" err="1" smtClean="0"/>
              <a:t>LazyColumn</a:t>
            </a:r>
            <a:r>
              <a:rPr lang="ru-RU" sz="2400" dirty="0" smtClean="0"/>
              <a:t> и </a:t>
            </a:r>
            <a:r>
              <a:rPr lang="ru-RU" sz="2400" dirty="0" err="1" smtClean="0"/>
              <a:t>LazyRow</a:t>
            </a:r>
            <a:r>
              <a:rPr lang="ru-RU" sz="2400" dirty="0" smtClean="0"/>
              <a:t>.</a:t>
            </a:r>
            <a:br>
              <a:rPr lang="ru-RU" sz="2400" dirty="0" smtClean="0"/>
            </a:br>
            <a:r>
              <a:rPr lang="ru-RU" sz="2400" dirty="0" smtClean="0"/>
              <a:t>Навигация между экранами реализована через </a:t>
            </a:r>
            <a:r>
              <a:rPr lang="ru-RU" sz="2400" b="1" dirty="0" err="1" smtClean="0"/>
              <a:t>Navigation</a:t>
            </a:r>
            <a:r>
              <a:rPr lang="ru-RU" sz="2400" b="1" dirty="0" smtClean="0"/>
              <a:t> </a:t>
            </a:r>
            <a:r>
              <a:rPr lang="ru-RU" sz="2400" b="1" dirty="0" err="1" smtClean="0"/>
              <a:t>Compose</a:t>
            </a:r>
            <a:r>
              <a:rPr lang="ru-RU" sz="2400" dirty="0" smtClean="0"/>
              <a:t>.</a:t>
            </a:r>
            <a:br>
              <a:rPr lang="ru-RU" sz="2400" dirty="0" smtClean="0"/>
            </a:br>
            <a:r>
              <a:rPr lang="ru-RU" sz="2400" dirty="0" smtClean="0"/>
              <a:t>Загрузка и отображение изображений выполняется с помощью </a:t>
            </a:r>
            <a:r>
              <a:rPr lang="ru-RU" sz="2400" b="1" dirty="0" err="1" smtClean="0"/>
              <a:t>Coil</a:t>
            </a:r>
            <a:r>
              <a:rPr lang="ru-RU" sz="2400" dirty="0" smtClean="0"/>
              <a:t>.</a:t>
            </a:r>
          </a:p>
          <a:p>
            <a:pPr algn="just">
              <a:buNone/>
            </a:pPr>
            <a:r>
              <a:rPr lang="en-US" sz="2400" dirty="0" smtClean="0"/>
              <a:t>		</a:t>
            </a:r>
            <a:r>
              <a:rPr lang="ru-RU" sz="2400" dirty="0" err="1" smtClean="0"/>
              <a:t>Compose</a:t>
            </a:r>
            <a:r>
              <a:rPr lang="ru-RU" sz="2400" dirty="0" smtClean="0"/>
              <a:t> </a:t>
            </a:r>
            <a:r>
              <a:rPr lang="ru-RU" sz="2400" dirty="0" smtClean="0"/>
              <a:t>выбран вместо XML-вёрстки из-за более простой работы с состоянием и меньшего объёма шаблонного кода.</a:t>
            </a:r>
          </a:p>
          <a:p>
            <a:pPr algn="just">
              <a:lnSpc>
                <a:spcPct val="80000"/>
              </a:lnSpc>
              <a:buNone/>
            </a:pPr>
            <a:endParaRPr lang="ru-RU" sz="2400" dirty="0"/>
          </a:p>
        </p:txBody>
      </p:sp>
      <p:sp>
        <p:nvSpPr>
          <p:cNvPr id="10242" name="AutoShape 2" descr="How to Build a Stunning Animated Progress Button | ProAndroidDev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/>
          </a:p>
        </p:txBody>
      </p:sp>
      <p:sp>
        <p:nvSpPr>
          <p:cNvPr id="10244" name="AutoShape 4" descr="How to Build a Stunning Animated Progress Button | ProAndroidDev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/>
          </a:p>
        </p:txBody>
      </p:sp>
      <p:sp>
        <p:nvSpPr>
          <p:cNvPr id="10246" name="AutoShape 6" descr="How to Build a Stunning Animated Progress Button | ProAndroidDev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/>
          </a:p>
        </p:txBody>
      </p:sp>
      <p:sp>
        <p:nvSpPr>
          <p:cNvPr id="10248" name="AutoShape 8" descr="README ru - Coil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/>
          </a:p>
        </p:txBody>
      </p:sp>
      <p:sp>
        <p:nvSpPr>
          <p:cNvPr id="10250" name="AutoShape 10" descr="README ru - Coil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/>
          </a:p>
        </p:txBody>
      </p:sp>
      <p:sp>
        <p:nvSpPr>
          <p:cNvPr id="10252" name="AutoShape 12" descr="README ru - Coil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/>
          </a:p>
        </p:txBody>
      </p:sp>
      <p:pic>
        <p:nvPicPr>
          <p:cNvPr id="10254" name="Picture 14" descr="GitHub - coil-kt/coil: Image loading for Android and Compose Multiplatform.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6051551" y="4329114"/>
            <a:ext cx="1738312" cy="1738312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xmlns="" val="265289927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0" y="450850"/>
            <a:ext cx="12192000" cy="758825"/>
          </a:xfrm>
          <a:solidFill>
            <a:srgbClr val="2D419C"/>
          </a:solidFill>
        </p:spPr>
        <p:txBody>
          <a:bodyPr>
            <a:normAutofit/>
          </a:bodyPr>
          <a:lstStyle/>
          <a:p>
            <a:pPr algn="ctr"/>
            <a:r>
              <a:rPr lang="ru-RU" sz="4000" b="1" dirty="0" smtClean="0">
                <a:solidFill>
                  <a:schemeClr val="bg1"/>
                </a:solidFill>
              </a:rPr>
              <a:t>Сетевое взаимодействие</a:t>
            </a:r>
            <a:endParaRPr lang="ru-RU" sz="4000" b="1" dirty="0">
              <a:solidFill>
                <a:schemeClr val="bg1"/>
              </a:solidFill>
            </a:endParaRP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323851" y="1422400"/>
            <a:ext cx="11515724" cy="4013200"/>
          </a:xfrm>
        </p:spPr>
        <p:txBody>
          <a:bodyPr>
            <a:normAutofit/>
          </a:bodyPr>
          <a:lstStyle/>
          <a:p>
            <a:pPr algn="just">
              <a:buNone/>
            </a:pPr>
            <a:r>
              <a:rPr lang="en-US" sz="2400" dirty="0" smtClean="0"/>
              <a:t>		</a:t>
            </a:r>
            <a:r>
              <a:rPr lang="ru-RU" sz="2400" dirty="0" smtClean="0"/>
              <a:t>Для </a:t>
            </a:r>
            <a:r>
              <a:rPr lang="ru-RU" sz="2400" dirty="0" smtClean="0"/>
              <a:t>работы с сетью используется связка </a:t>
            </a:r>
            <a:r>
              <a:rPr lang="ru-RU" sz="2400" b="1" dirty="0" err="1" smtClean="0"/>
              <a:t>Retrofit</a:t>
            </a:r>
            <a:r>
              <a:rPr lang="ru-RU" sz="2400" b="1" dirty="0" smtClean="0"/>
              <a:t> 2 + </a:t>
            </a:r>
            <a:r>
              <a:rPr lang="ru-RU" sz="2400" b="1" dirty="0" err="1" smtClean="0"/>
              <a:t>OkHttp</a:t>
            </a:r>
            <a:r>
              <a:rPr lang="ru-RU" sz="2400" dirty="0" smtClean="0"/>
              <a:t>.</a:t>
            </a:r>
            <a:br>
              <a:rPr lang="ru-RU" sz="2400" dirty="0" smtClean="0"/>
            </a:br>
            <a:r>
              <a:rPr lang="ru-RU" sz="2400" dirty="0" err="1" smtClean="0"/>
              <a:t>Retrofit</a:t>
            </a:r>
            <a:r>
              <a:rPr lang="ru-RU" sz="2400" dirty="0" smtClean="0"/>
              <a:t> описывает REST-интерфейсы и преобразует ответы API в Kotlin-модели.</a:t>
            </a:r>
            <a:br>
              <a:rPr lang="ru-RU" sz="2400" dirty="0" smtClean="0"/>
            </a:br>
            <a:r>
              <a:rPr lang="ru-RU" sz="2400" dirty="0" err="1" smtClean="0"/>
              <a:t>OkHttp</a:t>
            </a:r>
            <a:r>
              <a:rPr lang="ru-RU" sz="2400" dirty="0" smtClean="0"/>
              <a:t> отвечает за выполнение HTTP-запросов и обработку сетевых соединений.</a:t>
            </a:r>
          </a:p>
          <a:p>
            <a:pPr algn="just">
              <a:buNone/>
            </a:pPr>
            <a:r>
              <a:rPr lang="en-US" sz="2400" dirty="0" smtClean="0"/>
              <a:t>		</a:t>
            </a:r>
            <a:r>
              <a:rPr lang="ru-RU" sz="2400" dirty="0" smtClean="0"/>
              <a:t>В </a:t>
            </a:r>
            <a:r>
              <a:rPr lang="ru-RU" sz="2400" dirty="0" smtClean="0"/>
              <a:t>качестве серверной части используется </a:t>
            </a:r>
            <a:r>
              <a:rPr lang="ru-RU" sz="2400" b="1" dirty="0" err="1" smtClean="0"/>
              <a:t>Supabase</a:t>
            </a:r>
            <a:r>
              <a:rPr lang="ru-RU" sz="2400" b="1" dirty="0" smtClean="0"/>
              <a:t> REST API</a:t>
            </a:r>
            <a:r>
              <a:rPr lang="ru-RU" sz="2400" dirty="0" smtClean="0"/>
              <a:t>, предоставляющий данные о товарах и </a:t>
            </a:r>
            <a:r>
              <a:rPr lang="ru-RU" sz="2400" dirty="0" smtClean="0"/>
              <a:t>категориях.</a:t>
            </a:r>
            <a:r>
              <a:rPr lang="en-US" sz="2400" dirty="0" smtClean="0"/>
              <a:t> </a:t>
            </a:r>
            <a:r>
              <a:rPr lang="ru-RU" sz="2400" dirty="0" smtClean="0"/>
              <a:t>Для </a:t>
            </a:r>
            <a:r>
              <a:rPr lang="ru-RU" sz="2400" dirty="0" err="1" smtClean="0"/>
              <a:t>сериализации</a:t>
            </a:r>
            <a:r>
              <a:rPr lang="ru-RU" sz="2400" dirty="0" smtClean="0"/>
              <a:t> и </a:t>
            </a:r>
            <a:r>
              <a:rPr lang="ru-RU" sz="2400" dirty="0" err="1" smtClean="0"/>
              <a:t>десериализации</a:t>
            </a:r>
            <a:r>
              <a:rPr lang="ru-RU" sz="2400" dirty="0" smtClean="0"/>
              <a:t> JSON применяется </a:t>
            </a:r>
            <a:r>
              <a:rPr lang="ru-RU" sz="2400" b="1" dirty="0" err="1" smtClean="0"/>
              <a:t>Gson</a:t>
            </a:r>
            <a:r>
              <a:rPr lang="ru-RU" sz="2400" dirty="0" smtClean="0"/>
              <a:t>.</a:t>
            </a:r>
          </a:p>
          <a:p>
            <a:pPr algn="just">
              <a:lnSpc>
                <a:spcPct val="80000"/>
              </a:lnSpc>
              <a:buNone/>
            </a:pPr>
            <a:endParaRPr lang="ru-RU" sz="2400" dirty="0"/>
          </a:p>
        </p:txBody>
      </p:sp>
      <p:pic>
        <p:nvPicPr>
          <p:cNvPr id="9218" name="Picture 2" descr="SUPABASE - DEV Community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2051050" y="3700461"/>
            <a:ext cx="4251137" cy="1776413"/>
          </a:xfrm>
          <a:prstGeom prst="rect">
            <a:avLst/>
          </a:prstGeom>
          <a:noFill/>
        </p:spPr>
      </p:pic>
      <p:pic>
        <p:nvPicPr>
          <p:cNvPr id="9220" name="Picture 4" descr="CodingWithMitch.com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6438901" y="4396978"/>
            <a:ext cx="3714750" cy="2089548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xmlns="" val="316635036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0" y="2750664"/>
            <a:ext cx="12192000" cy="1356671"/>
          </a:xfrm>
          <a:solidFill>
            <a:srgbClr val="2D419C"/>
          </a:solidFill>
        </p:spPr>
        <p:txBody>
          <a:bodyPr anchor="ctr">
            <a:normAutofit/>
          </a:bodyPr>
          <a:lstStyle/>
          <a:p>
            <a:r>
              <a:rPr lang="en-US" b="1" dirty="0" smtClean="0">
                <a:solidFill>
                  <a:schemeClr val="bg1"/>
                </a:solidFill>
              </a:rPr>
              <a:t>Shoe S</a:t>
            </a:r>
            <a:r>
              <a:rPr lang="en-US" b="1" dirty="0" smtClean="0">
                <a:solidFill>
                  <a:schemeClr val="bg1"/>
                </a:solidFill>
              </a:rPr>
              <a:t>tore</a:t>
            </a:r>
            <a:endParaRPr lang="ru-RU" b="1" dirty="0">
              <a:solidFill>
                <a:schemeClr val="bg1"/>
              </a:solidFill>
            </a:endParaRPr>
          </a:p>
        </p:txBody>
      </p:sp>
      <p:sp>
        <p:nvSpPr>
          <p:cNvPr id="4" name="Подзаголовок 3"/>
          <p:cNvSpPr>
            <a:spLocks noGrp="1"/>
          </p:cNvSpPr>
          <p:nvPr>
            <p:ph type="subTitle" idx="1"/>
          </p:nvPr>
        </p:nvSpPr>
        <p:spPr>
          <a:xfrm>
            <a:off x="1543050" y="3659188"/>
            <a:ext cx="9144000" cy="1655762"/>
          </a:xfrm>
        </p:spPr>
        <p:txBody>
          <a:bodyPr/>
          <a:lstStyle/>
          <a:p>
            <a:r>
              <a:rPr lang="en-US" dirty="0" smtClean="0">
                <a:solidFill>
                  <a:schemeClr val="bg1"/>
                </a:solidFill>
              </a:rPr>
              <a:t>Android | MVVM | Jetpack Compose | </a:t>
            </a:r>
            <a:r>
              <a:rPr lang="en-US" dirty="0" err="1" smtClean="0">
                <a:solidFill>
                  <a:schemeClr val="bg1"/>
                </a:solidFill>
              </a:rPr>
              <a:t>Supabase</a:t>
            </a:r>
            <a:endParaRPr lang="ru-RU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xmlns="" val="429053413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xmlns="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592</TotalTime>
  <Words>43</Words>
  <Application>Microsoft Office PowerPoint</Application>
  <PresentationFormat>Произвольный</PresentationFormat>
  <Paragraphs>35</Paragraphs>
  <Slides>11</Slides>
  <Notes>0</Notes>
  <HiddenSlides>0</HiddenSlides>
  <MMClips>0</MMClips>
  <ScaleCrop>false</ScaleCrop>
  <HeadingPairs>
    <vt:vector size="4" baseType="variant"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11</vt:i4>
      </vt:variant>
    </vt:vector>
  </HeadingPairs>
  <TitlesOfParts>
    <vt:vector size="12" baseType="lpstr">
      <vt:lpstr>Тема Office</vt:lpstr>
      <vt:lpstr>Shoe Store</vt:lpstr>
      <vt:lpstr>Обзор проекта</vt:lpstr>
      <vt:lpstr>Функциональная структура приложения</vt:lpstr>
      <vt:lpstr>Функциональная структура приложения</vt:lpstr>
      <vt:lpstr>Функциональная структура приложения</vt:lpstr>
      <vt:lpstr>Архитектурный подход</vt:lpstr>
      <vt:lpstr>Реализация MVVM</vt:lpstr>
      <vt:lpstr>Диаграмма вариантов использования</vt:lpstr>
      <vt:lpstr>Реализация пользовательского интерфейса</vt:lpstr>
      <vt:lpstr>Сетевое взаимодействие</vt:lpstr>
      <vt:lpstr>Shoe Store</vt:lpstr>
    </vt:vector>
  </TitlesOfParts>
  <Company>SPecialiST RePack</Company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creator>Пользователь Windows</dc:creator>
  <cp:lastModifiedBy>Dmitriy Chirkov</cp:lastModifiedBy>
  <cp:revision>49</cp:revision>
  <dcterms:created xsi:type="dcterms:W3CDTF">2022-06-15T10:15:27Z</dcterms:created>
  <dcterms:modified xsi:type="dcterms:W3CDTF">2025-12-19T15:36:49Z</dcterms:modified>
</cp:coreProperties>
</file>